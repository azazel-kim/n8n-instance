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56" r:id="rId2"/>
    <p:sldId id="260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16753D-6FEE-4858-AD12-D32F297E79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45C646-465C-494A-8D92-3BEC64E1E8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62F0D-8270-4772-8909-037E036CE035}" type="datetimeFigureOut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4B9DC0-3B41-4D53-8AB2-DCEC03B9C7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D27BD3-EB67-468E-8ACF-DE89AFB11B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3C1F2-C387-4D65-92B2-260155A8E5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4278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B40A-C338-479C-B800-F29E6D551520}" type="datetimeFigureOut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31B49-5784-40B2-9AC6-B08CA64FF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234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916AC2E7-E472-406F-8127-AF26F36AEF60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02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5C48658C-333D-40B9-87E6-37F39D74BD97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43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2C253F2B-A502-48AC-840E-733C098E7DB7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54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3758DE40-2681-4AD5-8D11-A103ED0B2F60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84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55F49F00-7442-4017-9F93-DF730A473216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02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48C5068D-C53A-4D05-A7AD-60207AF6F45B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8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38CF6383-0304-449C-915E-C28ED4B56B1C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78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428D05B8-6E89-4236-93CA-A65AB3A43C7D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42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038D2ECA-DAC3-431A-AEAC-F4548BC5E40F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4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EEE16FB0-2614-439B-A1C4-ABFC036EBC20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44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D0234E50-B4BB-40AF-B518-6CEB5A470AD4}" type="datetime1">
              <a:rPr lang="ko-KR" altLang="en-US" smtClean="0"/>
              <a:t>2021-07-22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12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57475" y="9553903"/>
            <a:ext cx="1543050" cy="352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B0F7E-B2E8-4C87-9227-A7071B033C6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26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20A5725A-4F2C-4E49-8AF0-6BB15A60F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510515"/>
            <a:ext cx="6231206" cy="321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사전 설문</a:t>
            </a:r>
            <a:endParaRPr lang="en-US" altLang="ko-KR" sz="16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0B4DAA-19D0-4515-9783-8325553CA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127" y="1000492"/>
            <a:ext cx="690254" cy="23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설문 일자</a:t>
            </a:r>
            <a:endParaRPr lang="en-US" altLang="ko-KR" sz="2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FCED8A-4A52-4B3D-B899-497DB1F0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A799AF3-6574-44CA-863C-8B334280F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231" y="1530587"/>
            <a:ext cx="6029018" cy="1767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b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1.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나이를 적어주세요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.</a:t>
            </a:r>
          </a:p>
          <a:p>
            <a:pPr marL="228600" indent="-228600" defTabSz="7429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ko-KR" sz="1100" dirty="0">
              <a:solidFill>
                <a:srgbClr val="000000"/>
              </a:solidFill>
              <a:latin typeface="-윤고딕310" panose="02030504000101010101" pitchFamily="18" charset="-127"/>
              <a:ea typeface="-윤고딕310" panose="02030504000101010101" pitchFamily="18" charset="-127"/>
            </a:endParaRPr>
          </a:p>
          <a:p>
            <a:pPr marL="228600" indent="-228600" defTabSz="7429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ko-KR" sz="1100" dirty="0">
              <a:solidFill>
                <a:srgbClr val="000000"/>
              </a:solidFill>
              <a:latin typeface="-윤고딕310" panose="02030504000101010101" pitchFamily="18" charset="-127"/>
              <a:ea typeface="-윤고딕310" panose="02030504000101010101" pitchFamily="18" charset="-127"/>
            </a:endParaRPr>
          </a:p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2.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성별을 적어주세요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.</a:t>
            </a:r>
          </a:p>
          <a:p>
            <a:pPr marL="228600" indent="-228600" defTabSz="7429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ko-KR" sz="1100" dirty="0">
              <a:solidFill>
                <a:srgbClr val="000000"/>
              </a:solidFill>
              <a:latin typeface="-윤고딕310" panose="02030504000101010101" pitchFamily="18" charset="-127"/>
              <a:ea typeface="-윤고딕310" panose="02030504000101010101" pitchFamily="18" charset="-127"/>
            </a:endParaRPr>
          </a:p>
          <a:p>
            <a:pPr marL="228600" indent="-228600" defTabSz="7429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ko-KR" sz="1100" dirty="0">
              <a:solidFill>
                <a:srgbClr val="000000"/>
              </a:solidFill>
              <a:latin typeface="-윤고딕310" panose="02030504000101010101" pitchFamily="18" charset="-127"/>
              <a:ea typeface="-윤고딕310" panose="02030504000101010101" pitchFamily="18" charset="-127"/>
            </a:endParaRPr>
          </a:p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3.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현재 직업을 적어주세요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.</a:t>
            </a:r>
          </a:p>
          <a:p>
            <a:pPr marL="228600" indent="-228600" defTabSz="7429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ko-KR" sz="1100" dirty="0">
              <a:solidFill>
                <a:srgbClr val="000000"/>
              </a:solidFill>
              <a:latin typeface="-윤고딕310" panose="02030504000101010101" pitchFamily="18" charset="-127"/>
              <a:ea typeface="-윤고딕310" panose="02030504000101010101" pitchFamily="18" charset="-127"/>
            </a:endParaRPr>
          </a:p>
          <a:p>
            <a:pPr marL="228600" indent="-228600" defTabSz="7429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ko-KR" sz="1100" dirty="0">
              <a:solidFill>
                <a:srgbClr val="000000"/>
              </a:solidFill>
              <a:latin typeface="-윤고딕310" panose="02030504000101010101" pitchFamily="18" charset="-127"/>
              <a:ea typeface="-윤고딕310" panose="02030504000101010101" pitchFamily="18" charset="-127"/>
            </a:endParaRPr>
          </a:p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4.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자신이 생각하기에 멀미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(Motion Sickness)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를 얼마만큼 </a:t>
            </a:r>
            <a:r>
              <a:rPr lang="ko-KR" altLang="en-US" sz="1100" dirty="0" err="1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느끼시나요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?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DCB10B1-640D-40A7-A2C3-3F232F3AADC9}"/>
              </a:ext>
            </a:extLst>
          </p:cNvPr>
          <p:cNvGrpSpPr/>
          <p:nvPr/>
        </p:nvGrpSpPr>
        <p:grpSpPr>
          <a:xfrm>
            <a:off x="593150" y="3435383"/>
            <a:ext cx="5933550" cy="615328"/>
            <a:chOff x="652746" y="2503569"/>
            <a:chExt cx="5933550" cy="6153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21469B-D410-48D0-96AE-CFD1CED35F95}"/>
                </a:ext>
              </a:extLst>
            </p:cNvPr>
            <p:cNvSpPr txBox="1"/>
            <p:nvPr/>
          </p:nvSpPr>
          <p:spPr>
            <a:xfrm>
              <a:off x="652746" y="2503569"/>
              <a:ext cx="8595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취약하지 않다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1DDA21-2357-410F-8B27-34C754BD759F}"/>
                </a:ext>
              </a:extLst>
            </p:cNvPr>
            <p:cNvSpPr txBox="1"/>
            <p:nvPr/>
          </p:nvSpPr>
          <p:spPr>
            <a:xfrm>
              <a:off x="2061338" y="2503569"/>
              <a:ext cx="8595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조금 취약하다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C6ADD4-9CA7-41A9-BA5D-BCE86C650FC3}"/>
                </a:ext>
              </a:extLst>
            </p:cNvPr>
            <p:cNvSpPr txBox="1"/>
            <p:nvPr/>
          </p:nvSpPr>
          <p:spPr>
            <a:xfrm>
              <a:off x="3470322" y="2503569"/>
              <a:ext cx="12570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적당히 취약한 것 같다</a:t>
              </a:r>
              <a:endParaRPr lang="ko-KR" altLang="en-US" sz="900" dirty="0">
                <a:latin typeface="-윤고딕310" panose="02030504000101010101" pitchFamily="18" charset="-127"/>
                <a:ea typeface="-윤고딕310" panose="02030504000101010101" pitchFamily="18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52C756-6723-4916-9EDA-0209B7934E9B}"/>
                </a:ext>
              </a:extLst>
            </p:cNvPr>
            <p:cNvSpPr txBox="1"/>
            <p:nvPr/>
          </p:nvSpPr>
          <p:spPr>
            <a:xfrm>
              <a:off x="5435019" y="2503569"/>
              <a:ext cx="115127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많이 취약한 것 같다</a:t>
              </a:r>
            </a:p>
          </p:txBody>
        </p:sp>
        <p:sp>
          <p:nvSpPr>
            <p:cNvPr id="15" name="양쪽 대괄호 14">
              <a:extLst>
                <a:ext uri="{FF2B5EF4-FFF2-40B4-BE49-F238E27FC236}">
                  <a16:creationId xmlns:a16="http://schemas.microsoft.com/office/drawing/2014/main" id="{11A245C7-C662-41A1-B1E4-87E25FDCD822}"/>
                </a:ext>
              </a:extLst>
            </p:cNvPr>
            <p:cNvSpPr/>
            <p:nvPr/>
          </p:nvSpPr>
          <p:spPr>
            <a:xfrm>
              <a:off x="839142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양쪽 대괄호 18">
              <a:extLst>
                <a:ext uri="{FF2B5EF4-FFF2-40B4-BE49-F238E27FC236}">
                  <a16:creationId xmlns:a16="http://schemas.microsoft.com/office/drawing/2014/main" id="{560F7D91-FC40-4397-BE45-413B073817CD}"/>
                </a:ext>
              </a:extLst>
            </p:cNvPr>
            <p:cNvSpPr/>
            <p:nvPr/>
          </p:nvSpPr>
          <p:spPr>
            <a:xfrm>
              <a:off x="2247734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양쪽 대괄호 19">
              <a:extLst>
                <a:ext uri="{FF2B5EF4-FFF2-40B4-BE49-F238E27FC236}">
                  <a16:creationId xmlns:a16="http://schemas.microsoft.com/office/drawing/2014/main" id="{0A557032-0E3E-46B2-9509-21906F95F986}"/>
                </a:ext>
              </a:extLst>
            </p:cNvPr>
            <p:cNvSpPr/>
            <p:nvPr/>
          </p:nvSpPr>
          <p:spPr>
            <a:xfrm>
              <a:off x="3855490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양쪽 대괄호 20">
              <a:extLst>
                <a:ext uri="{FF2B5EF4-FFF2-40B4-BE49-F238E27FC236}">
                  <a16:creationId xmlns:a16="http://schemas.microsoft.com/office/drawing/2014/main" id="{20C63DCF-AAD8-43B8-B247-66C3B32A08BC}"/>
                </a:ext>
              </a:extLst>
            </p:cNvPr>
            <p:cNvSpPr/>
            <p:nvPr/>
          </p:nvSpPr>
          <p:spPr>
            <a:xfrm>
              <a:off x="5767288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Rectangle 1">
            <a:extLst>
              <a:ext uri="{FF2B5EF4-FFF2-40B4-BE49-F238E27FC236}">
                <a16:creationId xmlns:a16="http://schemas.microsoft.com/office/drawing/2014/main" id="{6918121C-A0A2-4D1E-AABC-225486CBB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4449736"/>
            <a:ext cx="4960023" cy="752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b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5. VR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 기기 경험을 해보았나요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?</a:t>
            </a:r>
          </a:p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solidFill>
                <a:srgbClr val="000000"/>
              </a:solidFill>
              <a:latin typeface="-윤고딕310" panose="02030504000101010101" pitchFamily="18" charset="-127"/>
              <a:ea typeface="-윤고딕310" panose="02030504000101010101" pitchFamily="18" charset="-127"/>
            </a:endParaRPr>
          </a:p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solidFill>
                <a:srgbClr val="000000"/>
              </a:solidFill>
              <a:latin typeface="-윤고딕310" panose="02030504000101010101" pitchFamily="18" charset="-127"/>
              <a:ea typeface="-윤고딕310" panose="02030504000101010101" pitchFamily="18" charset="-127"/>
            </a:endParaRPr>
          </a:p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6. VR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기기를 경험 해보았다면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얼마나 경험해보았나요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?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0A5C29-010C-4F35-A488-D0C4B6955143}"/>
              </a:ext>
            </a:extLst>
          </p:cNvPr>
          <p:cNvGrpSpPr/>
          <p:nvPr/>
        </p:nvGrpSpPr>
        <p:grpSpPr>
          <a:xfrm>
            <a:off x="765531" y="5352859"/>
            <a:ext cx="5520718" cy="615328"/>
            <a:chOff x="765531" y="5165673"/>
            <a:chExt cx="5520718" cy="61532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C10C78F-6E74-4451-BE8E-4C582A64F8C6}"/>
                </a:ext>
              </a:extLst>
            </p:cNvPr>
            <p:cNvSpPr txBox="1"/>
            <p:nvPr/>
          </p:nvSpPr>
          <p:spPr>
            <a:xfrm>
              <a:off x="765531" y="5165673"/>
              <a:ext cx="5212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1~2</a:t>
              </a:r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회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34BFC3F-EF93-436E-B995-4091C545858C}"/>
                </a:ext>
              </a:extLst>
            </p:cNvPr>
            <p:cNvSpPr txBox="1"/>
            <p:nvPr/>
          </p:nvSpPr>
          <p:spPr>
            <a:xfrm>
              <a:off x="2170858" y="5165673"/>
              <a:ext cx="5212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3~5</a:t>
              </a:r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회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64CF7A2-76D1-4755-B803-6E2144637214}"/>
                </a:ext>
              </a:extLst>
            </p:cNvPr>
            <p:cNvSpPr txBox="1"/>
            <p:nvPr/>
          </p:nvSpPr>
          <p:spPr>
            <a:xfrm>
              <a:off x="3746554" y="5165673"/>
              <a:ext cx="58541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6~10</a:t>
              </a:r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회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7594FC-BAB1-4CFE-9D20-87D3A2299204}"/>
                </a:ext>
              </a:extLst>
            </p:cNvPr>
            <p:cNvSpPr txBox="1"/>
            <p:nvPr/>
          </p:nvSpPr>
          <p:spPr>
            <a:xfrm>
              <a:off x="5615873" y="5165673"/>
              <a:ext cx="6703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11</a:t>
              </a:r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회 이상</a:t>
              </a:r>
            </a:p>
          </p:txBody>
        </p:sp>
        <p:sp>
          <p:nvSpPr>
            <p:cNvPr id="29" name="양쪽 대괄호 28">
              <a:extLst>
                <a:ext uri="{FF2B5EF4-FFF2-40B4-BE49-F238E27FC236}">
                  <a16:creationId xmlns:a16="http://schemas.microsoft.com/office/drawing/2014/main" id="{99E35E2C-E30A-4AA5-996A-F9E6AB2B809B}"/>
                </a:ext>
              </a:extLst>
            </p:cNvPr>
            <p:cNvSpPr/>
            <p:nvPr/>
          </p:nvSpPr>
          <p:spPr>
            <a:xfrm>
              <a:off x="779546" y="5565239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양쪽 대괄호 29">
              <a:extLst>
                <a:ext uri="{FF2B5EF4-FFF2-40B4-BE49-F238E27FC236}">
                  <a16:creationId xmlns:a16="http://schemas.microsoft.com/office/drawing/2014/main" id="{265FBFB7-CEF9-42DB-9B4A-70600EB223B3}"/>
                </a:ext>
              </a:extLst>
            </p:cNvPr>
            <p:cNvSpPr/>
            <p:nvPr/>
          </p:nvSpPr>
          <p:spPr>
            <a:xfrm>
              <a:off x="2188138" y="5565239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양쪽 대괄호 30">
              <a:extLst>
                <a:ext uri="{FF2B5EF4-FFF2-40B4-BE49-F238E27FC236}">
                  <a16:creationId xmlns:a16="http://schemas.microsoft.com/office/drawing/2014/main" id="{F5647567-2D10-4F18-AA15-4CF192E8D9DB}"/>
                </a:ext>
              </a:extLst>
            </p:cNvPr>
            <p:cNvSpPr/>
            <p:nvPr/>
          </p:nvSpPr>
          <p:spPr>
            <a:xfrm>
              <a:off x="3795894" y="5565239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양쪽 대괄호 31">
              <a:extLst>
                <a:ext uri="{FF2B5EF4-FFF2-40B4-BE49-F238E27FC236}">
                  <a16:creationId xmlns:a16="http://schemas.microsoft.com/office/drawing/2014/main" id="{3CCB246B-2B64-4998-9C74-132860741C22}"/>
                </a:ext>
              </a:extLst>
            </p:cNvPr>
            <p:cNvSpPr/>
            <p:nvPr/>
          </p:nvSpPr>
          <p:spPr>
            <a:xfrm>
              <a:off x="5707692" y="5565239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Rectangle 1">
            <a:extLst>
              <a:ext uri="{FF2B5EF4-FFF2-40B4-BE49-F238E27FC236}">
                <a16:creationId xmlns:a16="http://schemas.microsoft.com/office/drawing/2014/main" id="{7EF548F0-0083-4872-B337-87F81EEEE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6382225"/>
            <a:ext cx="4960023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b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7. VR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기기를 경험 해보았다면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어떠한 종류의 컨텐츠를 경험해보았나요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?</a:t>
            </a: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FF47A9B3-3052-4A35-9CF8-AEC394E3B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7797914"/>
            <a:ext cx="4960023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b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8. VR</a:t>
            </a:r>
            <a:r>
              <a:rPr lang="ko-KR" altLang="en-US" sz="11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 기기 경험 시 얼마나 멀미를 경험하셨나요</a:t>
            </a:r>
            <a:r>
              <a:rPr lang="en-US" altLang="ko-KR" sz="11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? 4 Level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E6887EE-5EF3-4F87-BC2B-DBE8FADF4674}"/>
              </a:ext>
            </a:extLst>
          </p:cNvPr>
          <p:cNvGrpSpPr/>
          <p:nvPr/>
        </p:nvGrpSpPr>
        <p:grpSpPr>
          <a:xfrm>
            <a:off x="779546" y="6765847"/>
            <a:ext cx="5506703" cy="615328"/>
            <a:chOff x="779546" y="5165673"/>
            <a:chExt cx="5506703" cy="61532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76BF4D-8F7E-4303-979A-3EB22ED2E046}"/>
                </a:ext>
              </a:extLst>
            </p:cNvPr>
            <p:cNvSpPr txBox="1"/>
            <p:nvPr/>
          </p:nvSpPr>
          <p:spPr>
            <a:xfrm>
              <a:off x="823240" y="5165673"/>
              <a:ext cx="4058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연구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1B55003-634C-4E28-ADB9-9BF3AAEDD124}"/>
                </a:ext>
              </a:extLst>
            </p:cNvPr>
            <p:cNvSpPr txBox="1"/>
            <p:nvPr/>
          </p:nvSpPr>
          <p:spPr>
            <a:xfrm>
              <a:off x="2233375" y="5165673"/>
              <a:ext cx="39626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게임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8D5F668-ECA8-495F-AFF8-F6313B2EA5D4}"/>
                </a:ext>
              </a:extLst>
            </p:cNvPr>
            <p:cNvSpPr txBox="1"/>
            <p:nvPr/>
          </p:nvSpPr>
          <p:spPr>
            <a:xfrm>
              <a:off x="3783423" y="5165673"/>
              <a:ext cx="5116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동영상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C7FF502-B51D-4432-8440-94ACAF977B71}"/>
                </a:ext>
              </a:extLst>
            </p:cNvPr>
            <p:cNvSpPr txBox="1"/>
            <p:nvPr/>
          </p:nvSpPr>
          <p:spPr>
            <a:xfrm>
              <a:off x="5615873" y="5165673"/>
              <a:ext cx="6703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기타</a:t>
              </a:r>
            </a:p>
          </p:txBody>
        </p:sp>
        <p:sp>
          <p:nvSpPr>
            <p:cNvPr id="60" name="양쪽 대괄호 59">
              <a:extLst>
                <a:ext uri="{FF2B5EF4-FFF2-40B4-BE49-F238E27FC236}">
                  <a16:creationId xmlns:a16="http://schemas.microsoft.com/office/drawing/2014/main" id="{89F1D2F0-B8D7-4C2C-83A1-9FB3534EA95F}"/>
                </a:ext>
              </a:extLst>
            </p:cNvPr>
            <p:cNvSpPr/>
            <p:nvPr/>
          </p:nvSpPr>
          <p:spPr>
            <a:xfrm>
              <a:off x="779546" y="5565239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양쪽 대괄호 60">
              <a:extLst>
                <a:ext uri="{FF2B5EF4-FFF2-40B4-BE49-F238E27FC236}">
                  <a16:creationId xmlns:a16="http://schemas.microsoft.com/office/drawing/2014/main" id="{BA045638-6214-4B99-8D96-35639B90008A}"/>
                </a:ext>
              </a:extLst>
            </p:cNvPr>
            <p:cNvSpPr/>
            <p:nvPr/>
          </p:nvSpPr>
          <p:spPr>
            <a:xfrm>
              <a:off x="2188138" y="5565239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양쪽 대괄호 61">
              <a:extLst>
                <a:ext uri="{FF2B5EF4-FFF2-40B4-BE49-F238E27FC236}">
                  <a16:creationId xmlns:a16="http://schemas.microsoft.com/office/drawing/2014/main" id="{F46AA8DD-7CC9-4170-B25C-75DC5954DACF}"/>
                </a:ext>
              </a:extLst>
            </p:cNvPr>
            <p:cNvSpPr/>
            <p:nvPr/>
          </p:nvSpPr>
          <p:spPr>
            <a:xfrm>
              <a:off x="3795894" y="5565239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양쪽 대괄호 62">
              <a:extLst>
                <a:ext uri="{FF2B5EF4-FFF2-40B4-BE49-F238E27FC236}">
                  <a16:creationId xmlns:a16="http://schemas.microsoft.com/office/drawing/2014/main" id="{458E8CF8-B37C-4B7D-BA5C-C9F794FD4633}"/>
                </a:ext>
              </a:extLst>
            </p:cNvPr>
            <p:cNvSpPr/>
            <p:nvPr/>
          </p:nvSpPr>
          <p:spPr>
            <a:xfrm>
              <a:off x="5707692" y="5565239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571FAE8-F14F-4C5A-B1AE-AF4A5F91F7FF}"/>
              </a:ext>
            </a:extLst>
          </p:cNvPr>
          <p:cNvGrpSpPr/>
          <p:nvPr/>
        </p:nvGrpSpPr>
        <p:grpSpPr>
          <a:xfrm>
            <a:off x="593150" y="8151288"/>
            <a:ext cx="5933550" cy="615328"/>
            <a:chOff x="652746" y="2503569"/>
            <a:chExt cx="5933550" cy="61532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277B2F8-3406-46E8-93A5-ABDF42B0F28D}"/>
                </a:ext>
              </a:extLst>
            </p:cNvPr>
            <p:cNvSpPr txBox="1"/>
            <p:nvPr/>
          </p:nvSpPr>
          <p:spPr>
            <a:xfrm>
              <a:off x="652746" y="2503569"/>
              <a:ext cx="8595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취약하지 않다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6EA4126-A6BB-4FFA-AC43-125893F8BCC0}"/>
                </a:ext>
              </a:extLst>
            </p:cNvPr>
            <p:cNvSpPr txBox="1"/>
            <p:nvPr/>
          </p:nvSpPr>
          <p:spPr>
            <a:xfrm>
              <a:off x="2061338" y="2503569"/>
              <a:ext cx="8595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조금 취약하다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13E705C-7574-4C78-8313-A4ED91A4AE3B}"/>
                </a:ext>
              </a:extLst>
            </p:cNvPr>
            <p:cNvSpPr txBox="1"/>
            <p:nvPr/>
          </p:nvSpPr>
          <p:spPr>
            <a:xfrm>
              <a:off x="3470322" y="2503569"/>
              <a:ext cx="12570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적당히 취약한 것 같다</a:t>
              </a:r>
              <a:endParaRPr lang="ko-KR" altLang="en-US" sz="900" dirty="0">
                <a:latin typeface="-윤고딕310" panose="02030504000101010101" pitchFamily="18" charset="-127"/>
                <a:ea typeface="-윤고딕310" panose="02030504000101010101" pitchFamily="18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ABC5B7F-2230-430B-A3E1-5B8DCBD31C86}"/>
                </a:ext>
              </a:extLst>
            </p:cNvPr>
            <p:cNvSpPr txBox="1"/>
            <p:nvPr/>
          </p:nvSpPr>
          <p:spPr>
            <a:xfrm>
              <a:off x="5435019" y="2503569"/>
              <a:ext cx="115127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많이 취약한 것 같다</a:t>
              </a:r>
            </a:p>
          </p:txBody>
        </p:sp>
        <p:sp>
          <p:nvSpPr>
            <p:cNvPr id="41" name="양쪽 대괄호 40">
              <a:extLst>
                <a:ext uri="{FF2B5EF4-FFF2-40B4-BE49-F238E27FC236}">
                  <a16:creationId xmlns:a16="http://schemas.microsoft.com/office/drawing/2014/main" id="{83038C4A-AA6F-45C6-AF5E-17FF84696FA4}"/>
                </a:ext>
              </a:extLst>
            </p:cNvPr>
            <p:cNvSpPr/>
            <p:nvPr/>
          </p:nvSpPr>
          <p:spPr>
            <a:xfrm>
              <a:off x="839142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양쪽 대괄호 41">
              <a:extLst>
                <a:ext uri="{FF2B5EF4-FFF2-40B4-BE49-F238E27FC236}">
                  <a16:creationId xmlns:a16="http://schemas.microsoft.com/office/drawing/2014/main" id="{3CEF4352-AF6A-4978-8D6D-B26EBF31B706}"/>
                </a:ext>
              </a:extLst>
            </p:cNvPr>
            <p:cNvSpPr/>
            <p:nvPr/>
          </p:nvSpPr>
          <p:spPr>
            <a:xfrm>
              <a:off x="2247734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양쪽 대괄호 42">
              <a:extLst>
                <a:ext uri="{FF2B5EF4-FFF2-40B4-BE49-F238E27FC236}">
                  <a16:creationId xmlns:a16="http://schemas.microsoft.com/office/drawing/2014/main" id="{B90E075B-896E-4D4E-AF41-55AA0B76CB33}"/>
                </a:ext>
              </a:extLst>
            </p:cNvPr>
            <p:cNvSpPr/>
            <p:nvPr/>
          </p:nvSpPr>
          <p:spPr>
            <a:xfrm>
              <a:off x="3855490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양쪽 대괄호 43">
              <a:extLst>
                <a:ext uri="{FF2B5EF4-FFF2-40B4-BE49-F238E27FC236}">
                  <a16:creationId xmlns:a16="http://schemas.microsoft.com/office/drawing/2014/main" id="{7757B6E1-F91E-432E-8286-14A71F998D51}"/>
                </a:ext>
              </a:extLst>
            </p:cNvPr>
            <p:cNvSpPr/>
            <p:nvPr/>
          </p:nvSpPr>
          <p:spPr>
            <a:xfrm>
              <a:off x="5767288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811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0C84D74-5BA9-44C0-92B7-435C63AA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C061737-BEBA-4E24-A8A3-C4C8993ED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666478"/>
            <a:ext cx="6091901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b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9.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이동수단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자동차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버스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배 등 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…)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에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대해서 얼마나 자주 멀미 혹은 구역질을 경험했나요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?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947BB5-C092-4A37-969E-FC8F7EFB8B24}"/>
              </a:ext>
            </a:extLst>
          </p:cNvPr>
          <p:cNvGrpSpPr/>
          <p:nvPr/>
        </p:nvGrpSpPr>
        <p:grpSpPr>
          <a:xfrm>
            <a:off x="540250" y="1094468"/>
            <a:ext cx="5845384" cy="615328"/>
            <a:chOff x="599846" y="2503569"/>
            <a:chExt cx="5845384" cy="61532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3E9894-2208-4D29-9514-0584BFA73D7B}"/>
                </a:ext>
              </a:extLst>
            </p:cNvPr>
            <p:cNvSpPr txBox="1"/>
            <p:nvPr/>
          </p:nvSpPr>
          <p:spPr>
            <a:xfrm>
              <a:off x="599846" y="2503569"/>
              <a:ext cx="9653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경험하지 않았다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D56171-3C80-4502-A23E-14D05010959F}"/>
                </a:ext>
              </a:extLst>
            </p:cNvPr>
            <p:cNvSpPr txBox="1"/>
            <p:nvPr/>
          </p:nvSpPr>
          <p:spPr>
            <a:xfrm>
              <a:off x="2056527" y="2503569"/>
              <a:ext cx="86914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조금 경험했다</a:t>
              </a:r>
              <a:endParaRPr lang="ko-KR" altLang="en-US" sz="900" dirty="0">
                <a:latin typeface="-윤고딕310" panose="02030504000101010101" pitchFamily="18" charset="-127"/>
                <a:ea typeface="-윤고딕310" panose="02030504000101010101" pitchFamily="18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33E750-DCE6-4348-8FF6-A5B2F8DB065B}"/>
                </a:ext>
              </a:extLst>
            </p:cNvPr>
            <p:cNvSpPr txBox="1"/>
            <p:nvPr/>
          </p:nvSpPr>
          <p:spPr>
            <a:xfrm>
              <a:off x="3616193" y="2503569"/>
              <a:ext cx="9653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적당히 경험했다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E0B4C1-B794-41C8-85DE-A0D2734F9AB0}"/>
                </a:ext>
              </a:extLst>
            </p:cNvPr>
            <p:cNvSpPr txBox="1"/>
            <p:nvPr/>
          </p:nvSpPr>
          <p:spPr>
            <a:xfrm>
              <a:off x="5576081" y="2503569"/>
              <a:ext cx="86914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latin typeface="-윤고딕310" panose="02030504000101010101" pitchFamily="18" charset="-127"/>
                  <a:ea typeface="-윤고딕310" panose="02030504000101010101" pitchFamily="18" charset="-127"/>
                </a:rPr>
                <a:t>많이 경험했다</a:t>
              </a:r>
              <a:endParaRPr lang="ko-KR" altLang="en-US" sz="900" dirty="0">
                <a:latin typeface="-윤고딕310" panose="02030504000101010101" pitchFamily="18" charset="-127"/>
                <a:ea typeface="-윤고딕310" panose="02030504000101010101" pitchFamily="18" charset="-127"/>
              </a:endParaRPr>
            </a:p>
          </p:txBody>
        </p:sp>
        <p:sp>
          <p:nvSpPr>
            <p:cNvPr id="12" name="양쪽 대괄호 11">
              <a:extLst>
                <a:ext uri="{FF2B5EF4-FFF2-40B4-BE49-F238E27FC236}">
                  <a16:creationId xmlns:a16="http://schemas.microsoft.com/office/drawing/2014/main" id="{E81CEA4B-3A5C-4B8A-AE42-D1D483FDB1CE}"/>
                </a:ext>
              </a:extLst>
            </p:cNvPr>
            <p:cNvSpPr/>
            <p:nvPr/>
          </p:nvSpPr>
          <p:spPr>
            <a:xfrm>
              <a:off x="839142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양쪽 대괄호 12">
              <a:extLst>
                <a:ext uri="{FF2B5EF4-FFF2-40B4-BE49-F238E27FC236}">
                  <a16:creationId xmlns:a16="http://schemas.microsoft.com/office/drawing/2014/main" id="{0F746968-54FF-421D-8866-126D8F2EFBD7}"/>
                </a:ext>
              </a:extLst>
            </p:cNvPr>
            <p:cNvSpPr/>
            <p:nvPr/>
          </p:nvSpPr>
          <p:spPr>
            <a:xfrm>
              <a:off x="2247734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양쪽 대괄호 13">
              <a:extLst>
                <a:ext uri="{FF2B5EF4-FFF2-40B4-BE49-F238E27FC236}">
                  <a16:creationId xmlns:a16="http://schemas.microsoft.com/office/drawing/2014/main" id="{EE98E929-6062-4303-8C57-F716EC212448}"/>
                </a:ext>
              </a:extLst>
            </p:cNvPr>
            <p:cNvSpPr/>
            <p:nvPr/>
          </p:nvSpPr>
          <p:spPr>
            <a:xfrm>
              <a:off x="3855490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양쪽 대괄호 14">
              <a:extLst>
                <a:ext uri="{FF2B5EF4-FFF2-40B4-BE49-F238E27FC236}">
                  <a16:creationId xmlns:a16="http://schemas.microsoft.com/office/drawing/2014/main" id="{D780D9ED-72C5-466D-8D46-CE6795896750}"/>
                </a:ext>
              </a:extLst>
            </p:cNvPr>
            <p:cNvSpPr/>
            <p:nvPr/>
          </p:nvSpPr>
          <p:spPr>
            <a:xfrm>
              <a:off x="5767288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Rectangle 1">
            <a:extLst>
              <a:ext uri="{FF2B5EF4-FFF2-40B4-BE49-F238E27FC236}">
                <a16:creationId xmlns:a16="http://schemas.microsoft.com/office/drawing/2014/main" id="{C3E1AE3F-D9A7-4718-9B64-170B83892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2355578"/>
            <a:ext cx="6091901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b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10.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가상 컨텐츠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자동차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버스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배 등 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…)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를 이용할 때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,</a:t>
            </a: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 얼마나 자주 멀미 혹은 구역질을 경험했나요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?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0E402CA-618C-4AC9-8DDB-40C2C86EE453}"/>
              </a:ext>
            </a:extLst>
          </p:cNvPr>
          <p:cNvGrpSpPr/>
          <p:nvPr/>
        </p:nvGrpSpPr>
        <p:grpSpPr>
          <a:xfrm>
            <a:off x="540250" y="2897518"/>
            <a:ext cx="5845384" cy="615328"/>
            <a:chOff x="599846" y="2503569"/>
            <a:chExt cx="5845384" cy="61532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C63244-2D5B-4852-BE45-ED2C18A0DD64}"/>
                </a:ext>
              </a:extLst>
            </p:cNvPr>
            <p:cNvSpPr txBox="1"/>
            <p:nvPr/>
          </p:nvSpPr>
          <p:spPr>
            <a:xfrm>
              <a:off x="599846" y="2503569"/>
              <a:ext cx="9653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경험하지 않았다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341D35-D6DC-4FF3-B339-D5DBBFC9A0B8}"/>
                </a:ext>
              </a:extLst>
            </p:cNvPr>
            <p:cNvSpPr txBox="1"/>
            <p:nvPr/>
          </p:nvSpPr>
          <p:spPr>
            <a:xfrm>
              <a:off x="2056527" y="2503569"/>
              <a:ext cx="86914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조금 경험했다</a:t>
              </a:r>
              <a:endParaRPr lang="ko-KR" altLang="en-US" sz="900" dirty="0">
                <a:latin typeface="-윤고딕310" panose="02030504000101010101" pitchFamily="18" charset="-127"/>
                <a:ea typeface="-윤고딕310" panose="0203050400010101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0FCE90F-BEC7-470B-835A-5E28A8ADC297}"/>
                </a:ext>
              </a:extLst>
            </p:cNvPr>
            <p:cNvSpPr txBox="1"/>
            <p:nvPr/>
          </p:nvSpPr>
          <p:spPr>
            <a:xfrm>
              <a:off x="3616193" y="2503569"/>
              <a:ext cx="9653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-윤고딕310" panose="02030504000101010101" pitchFamily="18" charset="-127"/>
                  <a:ea typeface="-윤고딕310" panose="02030504000101010101" pitchFamily="18" charset="-127"/>
                </a:rPr>
                <a:t>적당히 경험했다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269EED7-5D97-46CA-B8D7-98D746E6DA9D}"/>
                </a:ext>
              </a:extLst>
            </p:cNvPr>
            <p:cNvSpPr txBox="1"/>
            <p:nvPr/>
          </p:nvSpPr>
          <p:spPr>
            <a:xfrm>
              <a:off x="5576081" y="2503569"/>
              <a:ext cx="86914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latin typeface="-윤고딕310" panose="02030504000101010101" pitchFamily="18" charset="-127"/>
                  <a:ea typeface="-윤고딕310" panose="02030504000101010101" pitchFamily="18" charset="-127"/>
                </a:rPr>
                <a:t>많이 경험했다</a:t>
              </a:r>
              <a:endParaRPr lang="ko-KR" altLang="en-US" sz="900" dirty="0">
                <a:latin typeface="-윤고딕310" panose="02030504000101010101" pitchFamily="18" charset="-127"/>
                <a:ea typeface="-윤고딕310" panose="02030504000101010101" pitchFamily="18" charset="-127"/>
              </a:endParaRPr>
            </a:p>
          </p:txBody>
        </p:sp>
        <p:sp>
          <p:nvSpPr>
            <p:cNvPr id="33" name="양쪽 대괄호 32">
              <a:extLst>
                <a:ext uri="{FF2B5EF4-FFF2-40B4-BE49-F238E27FC236}">
                  <a16:creationId xmlns:a16="http://schemas.microsoft.com/office/drawing/2014/main" id="{28F948A2-2DC3-4AED-BD68-82565584873E}"/>
                </a:ext>
              </a:extLst>
            </p:cNvPr>
            <p:cNvSpPr/>
            <p:nvPr/>
          </p:nvSpPr>
          <p:spPr>
            <a:xfrm>
              <a:off x="839142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양쪽 대괄호 33">
              <a:extLst>
                <a:ext uri="{FF2B5EF4-FFF2-40B4-BE49-F238E27FC236}">
                  <a16:creationId xmlns:a16="http://schemas.microsoft.com/office/drawing/2014/main" id="{AC448E3C-F6BB-4844-B517-66D498CD0916}"/>
                </a:ext>
              </a:extLst>
            </p:cNvPr>
            <p:cNvSpPr/>
            <p:nvPr/>
          </p:nvSpPr>
          <p:spPr>
            <a:xfrm>
              <a:off x="2247734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양쪽 대괄호 34">
              <a:extLst>
                <a:ext uri="{FF2B5EF4-FFF2-40B4-BE49-F238E27FC236}">
                  <a16:creationId xmlns:a16="http://schemas.microsoft.com/office/drawing/2014/main" id="{C7E8542A-E03D-4A71-B9CC-44E7D59B5F14}"/>
                </a:ext>
              </a:extLst>
            </p:cNvPr>
            <p:cNvSpPr/>
            <p:nvPr/>
          </p:nvSpPr>
          <p:spPr>
            <a:xfrm>
              <a:off x="3855490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양쪽 대괄호 35">
              <a:extLst>
                <a:ext uri="{FF2B5EF4-FFF2-40B4-BE49-F238E27FC236}">
                  <a16:creationId xmlns:a16="http://schemas.microsoft.com/office/drawing/2014/main" id="{0207ECB7-EAAD-4195-A0ED-B2B611DE61BB}"/>
                </a:ext>
              </a:extLst>
            </p:cNvPr>
            <p:cNvSpPr/>
            <p:nvPr/>
          </p:nvSpPr>
          <p:spPr>
            <a:xfrm>
              <a:off x="5767288" y="2903135"/>
              <a:ext cx="486738" cy="215762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4967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172</Words>
  <Application>Microsoft Office PowerPoint</Application>
  <PresentationFormat>A4 용지(210x297mm)</PresentationFormat>
  <Paragraphs>46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-윤고딕310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박수한[ 대학원석사과정재학 / 컴퓨터학과 ]</dc:creator>
  <cp:lastModifiedBy>박수한[ 대학원석사과정재학 / 컴퓨터학과 ]</cp:lastModifiedBy>
  <cp:revision>145</cp:revision>
  <dcterms:created xsi:type="dcterms:W3CDTF">2021-04-14T11:34:57Z</dcterms:created>
  <dcterms:modified xsi:type="dcterms:W3CDTF">2021-07-22T03:49:34Z</dcterms:modified>
</cp:coreProperties>
</file>